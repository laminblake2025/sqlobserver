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6e415e76b74a81" /><Relationship Type="http://schemas.openxmlformats.org/officeDocument/2006/relationships/extended-properties" Target="/docProps/app.xml" Id="R38d5a73e6f6d4ef9" /><Relationship Type="http://schemas.openxmlformats.org/officeDocument/2006/relationships/officeDocument" Target="/ppt/presentation.xml" Id="R7ea58a81232c40b3" /></Relationships>
</file>

<file path=ppt/presentation.xml><?xml version="1.0" encoding="utf-8"?>
<p:presentation xmlns:p="http://schemas.openxmlformats.org/presentationml/2006/main">
  <p:sldMasterIdLst>
    <p:sldMasterId xmlns:r="http://schemas.openxmlformats.org/officeDocument/2006/relationships" id="2147483648" r:id="R62e81291e6ab41af"/>
  </p:sldMasterIdLst>
  <p:notesMasterIdLst>
    <p:notesMasterId xmlns:r="http://schemas.openxmlformats.org/officeDocument/2006/relationships" r:id="R402ffceb72c34947"/>
  </p:notesMasterIdLst>
  <p:sldIdLst>
    <p:sldId xmlns:r="http://schemas.openxmlformats.org/officeDocument/2006/relationships" id="256" r:id="Rb54cd24425ae45f2"/>
    <p:sldId xmlns:r="http://schemas.openxmlformats.org/officeDocument/2006/relationships" id="257" r:id="Rc1249d6becdb43f0"/>
    <p:sldId xmlns:r="http://schemas.openxmlformats.org/officeDocument/2006/relationships" id="258" r:id="R49bb49f7a1ae406a"/>
    <p:sldId xmlns:r="http://schemas.openxmlformats.org/officeDocument/2006/relationships" id="259" r:id="Rbd004fa85e2747b3"/>
    <p:sldId xmlns:r="http://schemas.openxmlformats.org/officeDocument/2006/relationships" id="260" r:id="Rf79802185d0547b5"/>
    <p:sldId xmlns:r="http://schemas.openxmlformats.org/officeDocument/2006/relationships" id="261" r:id="Raa4b835fb57a4ac7"/>
    <p:sldId xmlns:r="http://schemas.openxmlformats.org/officeDocument/2006/relationships" id="262" r:id="Rcd34019819bf41fc"/>
    <p:sldId xmlns:r="http://schemas.openxmlformats.org/officeDocument/2006/relationships" id="263" r:id="R12806bfeebaa452d"/>
    <p:sldId xmlns:r="http://schemas.openxmlformats.org/officeDocument/2006/relationships" id="264" r:id="R98ae840eb997454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872ec7232d48df" /><Relationship Type="http://schemas.openxmlformats.org/officeDocument/2006/relationships/slideMaster" Target="/ppt/slideMasters/slideMaster1.xml" Id="R62e81291e6ab41af" /><Relationship Type="http://schemas.openxmlformats.org/officeDocument/2006/relationships/notesMaster" Target="/ppt/notesMasters/notesMaster1.xml" Id="R402ffceb72c34947" /><Relationship Type="http://schemas.openxmlformats.org/officeDocument/2006/relationships/presProps" Target="/ppt/presProps.xml" Id="R7997d79583114c2f" /><Relationship Type="http://schemas.openxmlformats.org/officeDocument/2006/relationships/tableStyles" Target="/ppt/tableStyles.xml" Id="Reaf3780939404226" /><Relationship Type="http://schemas.openxmlformats.org/officeDocument/2006/relationships/slide" Target="/ppt/slides/slide1.xml" Id="Rb54cd24425ae45f2" /><Relationship Type="http://schemas.openxmlformats.org/officeDocument/2006/relationships/slide" Target="/ppt/slides/slide2.xml" Id="Rc1249d6becdb43f0" /><Relationship Type="http://schemas.openxmlformats.org/officeDocument/2006/relationships/slide" Target="/ppt/slides/slide3.xml" Id="R49bb49f7a1ae406a" /><Relationship Type="http://schemas.openxmlformats.org/officeDocument/2006/relationships/slide" Target="/ppt/slides/slide4.xml" Id="Rbd004fa85e2747b3" /><Relationship Type="http://schemas.openxmlformats.org/officeDocument/2006/relationships/slide" Target="/ppt/slides/slide5.xml" Id="Rf79802185d0547b5" /><Relationship Type="http://schemas.openxmlformats.org/officeDocument/2006/relationships/slide" Target="/ppt/slides/slide6.xml" Id="Raa4b835fb57a4ac7" /><Relationship Type="http://schemas.openxmlformats.org/officeDocument/2006/relationships/slide" Target="/ppt/slides/slide7.xml" Id="Rcd34019819bf41fc" /><Relationship Type="http://schemas.openxmlformats.org/officeDocument/2006/relationships/slide" Target="/ppt/slides/slide8.xml" Id="R12806bfeebaa452d" /><Relationship Type="http://schemas.openxmlformats.org/officeDocument/2006/relationships/slide" Target="/ppt/slides/slide9.xml" Id="R98ae840eb99745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0abfe40a1d4b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2f884124df493e" /><Relationship Type="http://schemas.openxmlformats.org/officeDocument/2006/relationships/notesMaster" Target="/ppt/notesMasters/notesMaster1.xml" Id="R6710c09e2b8e4c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736136894a41ab" /><Relationship Type="http://schemas.openxmlformats.org/officeDocument/2006/relationships/notesMaster" Target="/ppt/notesMasters/notesMaster1.xml" Id="Rb1ab1a82011e4e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8f142aaae1432f" /><Relationship Type="http://schemas.openxmlformats.org/officeDocument/2006/relationships/notesMaster" Target="/ppt/notesMasters/notesMaster1.xml" Id="Rfc8a433b090940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339317a9dd4c16" /><Relationship Type="http://schemas.openxmlformats.org/officeDocument/2006/relationships/notesMaster" Target="/ppt/notesMasters/notesMaster1.xml" Id="R3be1f4e9637a4f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37667a8d054c64" /><Relationship Type="http://schemas.openxmlformats.org/officeDocument/2006/relationships/notesMaster" Target="/ppt/notesMasters/notesMaster1.xml" Id="R56e7975554584c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ddc51e508140f8" /><Relationship Type="http://schemas.openxmlformats.org/officeDocument/2006/relationships/notesMaster" Target="/ppt/notesMasters/notesMaster1.xml" Id="R18f2424cb57146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5fd851e33044dc" /><Relationship Type="http://schemas.openxmlformats.org/officeDocument/2006/relationships/notesMaster" Target="/ppt/notesMasters/notesMaster1.xml" Id="R69033f2a114448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58d2e6af41464a" /><Relationship Type="http://schemas.openxmlformats.org/officeDocument/2006/relationships/notesMaster" Target="/ppt/notesMasters/notesMaster1.xml" Id="Rb78584b61fe14f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6de8d6bf074dcc" /><Relationship Type="http://schemas.openxmlformats.org/officeDocument/2006/relationships/notesMaster" Target="/ppt/notesMasters/notesMaster1.xml" Id="Rb6d8c231d5ad4b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Based on the current local SqlObserver repository, inspected September 9, 2026. These images are generated UI concepts, not screenshots of implemented product behavior or real telemetry. Source: README.md, web/src/App.tsx, web/src/dashboardModel.ts, and feature files cited on individual slides. Product remains pre-release. The concepts preserve passive SQL Server diagnostics and authorized evidence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fleet overview already supplies ranked issues, workload, resources, explicit gaps and scoped time windows. Proposed visual hierarchy makes the investigation list prominent and adds a compact searchable server entry point. Counts and names are illustrative. 7/8 reporting refers to SQL core evidence, not every source.</a:t>
            </a:r>
          </a:p>
          <a:p xmlns:a="http://schemas.openxmlformats.org/drawingml/2006/main">
            <a:r>
              <a:t/>
            </a:r>
          </a:p>
          <a:p xmlns:a="http://schemas.openxmlformats.org/drawingml/2006/main">
            <a:r>
              <a:t>Repository sources:</a:t>
            </a:r>
          </a:p>
          <a:p xmlns:a="http://schemas.openxmlformats.org/drawingml/2006/main">
            <a:r>
              <a:t>G:/Adams SQL Diagnostic Manager/web/src/features/overview/OverviewPage.tsx</a:t>
            </a:r>
          </a:p>
          <a:p xmlns:a="http://schemas.openxmlformats.org/drawingml/2006/main">
            <a:r>
              <a:t>G:/Adams SQL Diagnostic Manager/web/src/features/overview/overviewTypes.ts</a:t>
            </a:r>
          </a:p>
          <a:p xmlns:a="http://schemas.openxmlformats.org/drawingml/2006/main">
            <a:r>
              <a:t/>
            </a:r>
          </a:p>
          <a:p xmlns:a="http://schemas.openxmlformats.org/drawingml/2006/main">
            <a:r>
              <a:t>Image generated with the built-in imagegen tool. Proposed UI. All measurements, names and timestamps are illustrative. Prompt recorded in image-prompts.md.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Proposes consolidating the current Health destination into the selected server workspace. The summary combines existing health, inventory, activity, and operational projections. Host permissions and replication configuration remain separate from SQL-core freshness. Cross-source event markers and common selectors require UI wiring.</a:t>
            </a:r>
          </a:p>
          <a:p xmlns:a="http://schemas.openxmlformats.org/drawingml/2006/main">
            <a:r>
              <a:t/>
            </a:r>
          </a:p>
          <a:p xmlns:a="http://schemas.openxmlformats.org/drawingml/2006/main">
            <a:r>
              <a:t>Repository sources:</a:t>
            </a:r>
          </a:p>
          <a:p xmlns:a="http://schemas.openxmlformats.org/drawingml/2006/main">
            <a:r>
              <a:t>G:/Adams SQL Diagnostic Manager/web/src/features/health/TargetHealthPanel.tsx</a:t>
            </a:r>
          </a:p>
          <a:p xmlns:a="http://schemas.openxmlformats.org/drawingml/2006/main">
            <a:r>
              <a:t>G:/Adams SQL Diagnostic Manager/web/src/features/health/healthTypes.ts</a:t>
            </a:r>
          </a:p>
          <a:p xmlns:a="http://schemas.openxmlformats.org/drawingml/2006/main">
            <a:r>
              <a:t>G:/Adams SQL Diagnostic Manager/web/src/App.tsx</a:t>
            </a:r>
          </a:p>
          <a:p xmlns:a="http://schemas.openxmlformats.org/drawingml/2006/main">
            <a:r>
              <a:t/>
            </a:r>
          </a:p>
          <a:p xmlns:a="http://schemas.openxmlformats.org/drawingml/2006/main">
            <a:r>
              <a:t>Image generated with the built-in imagegen tool. Proposed UI. All measurements, names and timestamps are illustrative. Prompt recorded in image-prompts.md.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code implements 10-second refresh, pause/history, snapshot pagination, filters, session inspection and protected query text. The concept adds a blocking-chain filter including the blocker as context and a simpler snapshot picker. This example uses an idle blocker with unavailable SQL text. Do not equate cumulative CPU milliseconds with CPU percentage. The idle row's duration should be presented as session age rather than request elapsed time in implementation.</a:t>
            </a:r>
          </a:p>
          <a:p xmlns:a="http://schemas.openxmlformats.org/drawingml/2006/main">
            <a:r>
              <a:t/>
            </a:r>
          </a:p>
          <a:p xmlns:a="http://schemas.openxmlformats.org/drawingml/2006/main">
            <a:r>
              <a:t>Repository sources:</a:t>
            </a:r>
          </a:p>
          <a:p xmlns:a="http://schemas.openxmlformats.org/drawingml/2006/main">
            <a:r>
              <a:t>G:/Adams SQL Diagnostic Manager/web/src/features/activity/LiveSessionsPanel.tsx</a:t>
            </a:r>
          </a:p>
          <a:p xmlns:a="http://schemas.openxmlformats.org/drawingml/2006/main">
            <a:r>
              <a:t>G:/Adams SQL Diagnostic Manager/web/src/features/activity/liveActivityApi.ts</a:t>
            </a:r>
          </a:p>
          <a:p xmlns:a="http://schemas.openxmlformats.org/drawingml/2006/main">
            <a:r>
              <a:t>G:/Adams SQL Diagnostic Manager/web/src/features/activity/liveRefresh.ts</a:t>
            </a:r>
          </a:p>
          <a:p xmlns:a="http://schemas.openxmlformats.org/drawingml/2006/main">
            <a:r>
              <a:t/>
            </a:r>
          </a:p>
          <a:p xmlns:a="http://schemas.openxmlformats.org/drawingml/2006/main">
            <a:r>
              <a:t>Image generated with the built-in imagegen tool. Proposed UI. All measurements, names and timestamps are illustrative. Prompt recorded in image-prompts.md.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ranking supports CPU, duration, executions, logical reads, writes and rows, with Query Store / plan-cache provenance. Query and plan contentAvailable is false in this projection. Fingerprints shown are shortened illustrative identifiers. Proposed master/detail layout combines ranks, query history and observed plan fingerprints. Time-series points need clearly defined interval aggregation when implemented. No causal claim follows from a plan fingerprint change.</a:t>
            </a:r>
          </a:p>
          <a:p xmlns:a="http://schemas.openxmlformats.org/drawingml/2006/main">
            <a:r>
              <a:t/>
            </a:r>
          </a:p>
          <a:p xmlns:a="http://schemas.openxmlformats.org/drawingml/2006/main">
            <a:r>
              <a:t>Repository sources:</a:t>
            </a:r>
          </a:p>
          <a:p xmlns:a="http://schemas.openxmlformats.org/drawingml/2006/main">
            <a:r>
              <a:t>G:/Adams SQL Diagnostic Manager/web/src/features/queries/TargetQueryPerformancePanel.tsx</a:t>
            </a:r>
          </a:p>
          <a:p xmlns:a="http://schemas.openxmlformats.org/drawingml/2006/main">
            <a:r>
              <a:t>G:/Adams SQL Diagnostic Manager/web/src/features/queries/queryPerformanceTypes.ts</a:t>
            </a:r>
          </a:p>
          <a:p xmlns:a="http://schemas.openxmlformats.org/drawingml/2006/main">
            <a:r>
              <a:t/>
            </a:r>
          </a:p>
          <a:p xmlns:a="http://schemas.openxmlformats.org/drawingml/2006/main">
            <a:r>
              <a:t>Image generated with the built-in imagegen tool. Proposed UI. All measurements, names and timestamps are illustrative. Prompt recorded in image-prompts.md.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detail provides participant session IDs, victim flags and blocker/waiter relationships with resource category and lock mode. The proposed diagram maps these existing fields. Arrows point from waiter to blocker. The two-event list and event fingerprints are illustrative. Complete capture denotes capture completeness, not server health.</a:t>
            </a:r>
          </a:p>
          <a:p xmlns:a="http://schemas.openxmlformats.org/drawingml/2006/main">
            <a:r>
              <a:t/>
            </a:r>
          </a:p>
          <a:p xmlns:a="http://schemas.openxmlformats.org/drawingml/2006/main">
            <a:r>
              <a:t>Repository sources:</a:t>
            </a:r>
          </a:p>
          <a:p xmlns:a="http://schemas.openxmlformats.org/drawingml/2006/main">
            <a:r>
              <a:t>G:/Adams SQL Diagnostic Manager/web/src/features/deadlocks/TargetDeadlockPanel.tsx</a:t>
            </a:r>
          </a:p>
          <a:p xmlns:a="http://schemas.openxmlformats.org/drawingml/2006/main">
            <a:r>
              <a:t>G:/Adams SQL Diagnostic Manager/web/src/features/deadlocks/deadlockTypes.ts</a:t>
            </a:r>
          </a:p>
          <a:p xmlns:a="http://schemas.openxmlformats.org/drawingml/2006/main">
            <a:r>
              <a:t/>
            </a:r>
          </a:p>
          <a:p xmlns:a="http://schemas.openxmlformats.org/drawingml/2006/main">
            <a:r>
              <a:t>Image generated with the built-in imagegen tool. Proposed UI. All measurements, names and timestamps are illustrative. Prompt recorded in image-prompts.md.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Backups, SQL Agent failures, TempDB, availability groups, and replication evidence exist. The concept groups these under Operations and summarizes exceptions at the top. Replication currently lives under Analytics. Each metric needs its own observation time and coverage. Overdue backup status must use an explicit policy, not a hard-coded universal age. Job labels are synthetic and need an authorized display-name field or a safe identifier. This is a read-only diagnostics workflow.</a:t>
            </a:r>
          </a:p>
          <a:p xmlns:a="http://schemas.openxmlformats.org/drawingml/2006/main">
            <a:r>
              <a:t/>
            </a:r>
          </a:p>
          <a:p xmlns:a="http://schemas.openxmlformats.org/drawingml/2006/main">
            <a:r>
              <a:t>Repository sources:</a:t>
            </a:r>
          </a:p>
          <a:p xmlns:a="http://schemas.openxmlformats.org/drawingml/2006/main">
            <a:r>
              <a:t>G:/Adams SQL Diagnostic Manager/web/src/features/operations/OperationsPanel.tsx</a:t>
            </a:r>
          </a:p>
          <a:p xmlns:a="http://schemas.openxmlformats.org/drawingml/2006/main">
            <a:r>
              <a:t>G:/Adams SQL Diagnostic Manager/web/src/features/operations/operationsTypes.ts</a:t>
            </a:r>
          </a:p>
          <a:p xmlns:a="http://schemas.openxmlformats.org/drawingml/2006/main">
            <a:r>
              <a:t>G:/Adams SQL Diagnostic Manager/web/src/features/analytics/AnalyticsSurfacePanel.tsx</a:t>
            </a:r>
          </a:p>
          <a:p xmlns:a="http://schemas.openxmlformats.org/drawingml/2006/main">
            <a:r>
              <a:t/>
            </a:r>
          </a:p>
          <a:p xmlns:a="http://schemas.openxmlformats.org/drawingml/2006/main">
            <a:r>
              <a:t>Image generated with the built-in imagegen tool. Proposed UI. All measurements, names and timestamps are illustrative. Prompt recorded in image-prompts.md.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active alerts are target-scoped and support acknowledgement, state timestamps and delivery-suppression evidence. Friendly rule names, explicit severity and related-evidence links are proposed UI enrichments requiring metadata joins. Acknowledge records review and does not resolve the condition. Delivery enabled is the illustrative case without suppression. Related observations do not prove a shared cause.</a:t>
            </a:r>
          </a:p>
          <a:p xmlns:a="http://schemas.openxmlformats.org/drawingml/2006/main">
            <a:r>
              <a:t/>
            </a:r>
          </a:p>
          <a:p xmlns:a="http://schemas.openxmlformats.org/drawingml/2006/main">
            <a:r>
              <a:t>Repository sources:</a:t>
            </a:r>
          </a:p>
          <a:p xmlns:a="http://schemas.openxmlformats.org/drawingml/2006/main">
            <a:r>
              <a:t>G:/Adams SQL Diagnostic Manager/web/src/features/alerts/TargetAlertsPanel.tsx</a:t>
            </a:r>
          </a:p>
          <a:p xmlns:a="http://schemas.openxmlformats.org/drawingml/2006/main">
            <a:r>
              <a:t>G:/Adams SQL Diagnostic Manager/web/src/features/alerts/alertTypes.ts</a:t>
            </a:r>
          </a:p>
          <a:p xmlns:a="http://schemas.openxmlformats.org/drawingml/2006/main">
            <a:r>
              <a:t>G:/Adams SQL Diagnostic Manager/web/src/features/alerts/alertApi.ts</a:t>
            </a:r>
          </a:p>
          <a:p xmlns:a="http://schemas.openxmlformats.org/drawingml/2006/main">
            <a:r>
              <a:t/>
            </a:r>
          </a:p>
          <a:p xmlns:a="http://schemas.openxmlformats.org/drawingml/2006/main">
            <a:r>
              <a:t>Image generated with the built-in imagegen tool. Proposed UI. All measurements, names and timestamps are illustrative. Prompt recorded in image-prompts.md.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seven images prioritize common monitoring and investigation workflows; they are not an exhaustive screen inventory. Additional source capabilities: web/src/features/analytics/analyticsTypes.ts; web/src/features/analytics/AnalyticsPanel.tsx; web/src/features/reports/ReportsPanel.tsx; README.md. Current ReportsPanel exposes instance health, performance window, incident evidence and capacity/readiness reports with printable HTML and section CSV. This source implementation is more recent than some README roadmap wording; support/release certification is not established by this design review. Proposed navigation combines Health under Servers and replication under Operations. These are information-architecture changes, not implemented behavior. Global search, shared scope, master/detail panes, linked events and friendly rule labels require frontend wiring and may require small API enrichments.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278d37eeeb43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f089ea46464585" /><Relationship Type="http://schemas.openxmlformats.org/officeDocument/2006/relationships/slideLayout" Target="/ppt/slideLayouts/slideLayout1.xml" Id="Re8d5fc9a7c1c4c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d5fc9a7c1c4c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690eef224954ba8" /><Relationship Type="http://schemas.openxmlformats.org/officeDocument/2006/relationships/notesSlide" Target="/ppt/notesSlides/notesSlide1.xml" Id="R28325f28882c4e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ffc90ba4ec1471e" /><Relationship Type="http://schemas.openxmlformats.org/officeDocument/2006/relationships/image" Target="/ppt/media/image.png" Id="R9fbbdb8aaf02402f" /><Relationship Type="http://schemas.openxmlformats.org/officeDocument/2006/relationships/notesSlide" Target="/ppt/notesSlides/notesSlide2.xml" Id="R5d69bfc63f7a43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b844c7c01864069" /><Relationship Type="http://schemas.openxmlformats.org/officeDocument/2006/relationships/image" Target="/ppt/media/image2.png" Id="R8245ed4bc9f14bb8" /><Relationship Type="http://schemas.openxmlformats.org/officeDocument/2006/relationships/notesSlide" Target="/ppt/notesSlides/notesSlide3.xml" Id="Rc57385593f3a40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18f9db946a24b7b" /><Relationship Type="http://schemas.openxmlformats.org/officeDocument/2006/relationships/image" Target="/ppt/media/image3.png" Id="R1062cbf06ec34bce" /><Relationship Type="http://schemas.openxmlformats.org/officeDocument/2006/relationships/notesSlide" Target="/ppt/notesSlides/notesSlide4.xml" Id="R7a346047f2624a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30cef635d3f41e2" /><Relationship Type="http://schemas.openxmlformats.org/officeDocument/2006/relationships/image" Target="/ppt/media/image4.png" Id="R78fced1473f546b1" /><Relationship Type="http://schemas.openxmlformats.org/officeDocument/2006/relationships/notesSlide" Target="/ppt/notesSlides/notesSlide5.xml" Id="R427a07419b924a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56d0a53fa5437b" /><Relationship Type="http://schemas.openxmlformats.org/officeDocument/2006/relationships/image" Target="/ppt/media/image5.png" Id="Ra1ea1f82d7e5439b" /><Relationship Type="http://schemas.openxmlformats.org/officeDocument/2006/relationships/notesSlide" Target="/ppt/notesSlides/notesSlide6.xml" Id="R670434d4fe2c45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ccc1359d2014a0d" /><Relationship Type="http://schemas.openxmlformats.org/officeDocument/2006/relationships/image" Target="/ppt/media/image6.png" Id="R33bfb75169de43c1" /><Relationship Type="http://schemas.openxmlformats.org/officeDocument/2006/relationships/notesSlide" Target="/ppt/notesSlides/notesSlide7.xml" Id="R19afcabb212f49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d07df944dd4479a" /><Relationship Type="http://schemas.openxmlformats.org/officeDocument/2006/relationships/image" Target="/ppt/media/image7.png" Id="R50293cd6fd934956" /><Relationship Type="http://schemas.openxmlformats.org/officeDocument/2006/relationships/notesSlide" Target="/ppt/notesSlides/notesSlide8.xml" Id="R0ac24d573d22407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01f7c9e8291446e" /><Relationship Type="http://schemas.openxmlformats.org/officeDocument/2006/relationships/notesSlide" Target="/ppt/notesSlides/notesSlide9.xml" Id="R98ad636809f9481b" /></Relationships>
</file>

<file path=ppt/slides/slide1.xml><?xml version="1.0" encoding="utf-8"?>
<p:sld xmlns:p="http://schemas.openxmlformats.org/presentationml/2006/main">
  <p:cSld>
    <p:bg>
      <p:bgPr>
        <a:solidFill xmlns:a="http://schemas.openxmlformats.org/drawingml/2006/main">
          <a:srgbClr val="1025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9AE5F5-8ED7-4CC1-8B0F-50C502A7CD70}"/>
              </a:ext>
            </a:extLst>
          </p:cNvPr>
          <p:cNvSpPr>
            <a:spLocks xmlns:a="http://schemas.openxmlformats.org/drawingml/2006/main" noGrp="1"/>
          </p:cNvSpPr>
          <p:nvPr/>
        </p:nvSpPr>
        <p:spPr>
          <a:xfrm xmlns:a="http://schemas.openxmlformats.org/drawingml/2006/main">
            <a:off x="1143000" y="1143000"/>
            <a:ext cx="1381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100" b="1">
                <a:solidFill>
                  <a:srgbClr val="FFFFFF"/>
                </a:solidFill>
                <a:latin typeface="Arial"/>
                <a:ea typeface="Arial"/>
                <a:cs typeface="Arial"/>
              </a:defRPr>
            </a:pPr>
            <a:r>
              <a:rPr sz="8100" b="1">
                <a:solidFill>
                  <a:srgbClr val="FFFFFF"/>
                </a:solidFill>
                <a:latin typeface="Arial"/>
                <a:ea typeface="Arial"/>
                <a:cs typeface="Arial"/>
              </a:rPr>
              <a:t>SQL Observer</a:t>
            </a:r>
          </a:p>
        </p:txBody>
      </p:sp>
      <p:sp>
        <p:nvSpPr>
          <p:cNvPr id="2" name="">
            <a:extLst xmlns:a="http://schemas.openxmlformats.org/drawingml/2006/main">
              <a:ext uri="{FF2B5EF4-FFF2-40B4-BE49-F238E27FC236}">
                <a16:creationId xmlns:a16="http://schemas.microsoft.com/office/drawing/2014/main" id="{1834725A-04D8-44C6-814F-E7754C4FFE23}"/>
              </a:ext>
            </a:extLst>
          </p:cNvPr>
          <p:cNvSpPr>
            <a:spLocks xmlns:a="http://schemas.openxmlformats.org/drawingml/2006/main" noGrp="1"/>
          </p:cNvSpPr>
          <p:nvPr/>
        </p:nvSpPr>
        <p:spPr>
          <a:xfrm xmlns:a="http://schemas.openxmlformats.org/drawingml/2006/main">
            <a:off x="1190625" y="2571750"/>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46D0CD"/>
                </a:solidFill>
                <a:latin typeface="Arial"/>
                <a:ea typeface="Arial"/>
                <a:cs typeface="Arial"/>
              </a:defRPr>
            </a:pPr>
            <a:r>
              <a:rPr sz="4800" b="1">
                <a:solidFill>
                  <a:srgbClr val="46D0CD"/>
                </a:solidFill>
                <a:latin typeface="Arial"/>
                <a:ea typeface="Arial"/>
                <a:cs typeface="Arial"/>
              </a:rPr>
              <a:t>UI concept deck</a:t>
            </a:r>
          </a:p>
        </p:txBody>
      </p:sp>
      <p:sp>
        <p:nvSpPr>
          <p:cNvPr id="3" name="">
            <a:extLst xmlns:a="http://schemas.openxmlformats.org/drawingml/2006/main">
              <a:ext uri="{FF2B5EF4-FFF2-40B4-BE49-F238E27FC236}">
                <a16:creationId xmlns:a16="http://schemas.microsoft.com/office/drawing/2014/main" id="{1BACE2F7-D04C-4315-BD4F-7FFC30A17FBC}"/>
              </a:ext>
            </a:extLst>
          </p:cNvPr>
          <p:cNvSpPr>
            <a:spLocks xmlns:a="http://schemas.openxmlformats.org/drawingml/2006/main" noGrp="1"/>
          </p:cNvSpPr>
          <p:nvPr/>
        </p:nvSpPr>
        <p:spPr>
          <a:xfrm xmlns:a="http://schemas.openxmlformats.org/drawingml/2006/main">
            <a:off x="1219200" y="4000500"/>
            <a:ext cx="1524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Important information, within easy reach</a:t>
            </a:r>
          </a:p>
        </p:txBody>
      </p:sp>
      <p:sp>
        <p:nvSpPr>
          <p:cNvPr id="4" name="">
            <a:extLst xmlns:a="http://schemas.openxmlformats.org/drawingml/2006/main">
              <a:ext uri="{FF2B5EF4-FFF2-40B4-BE49-F238E27FC236}">
                <a16:creationId xmlns:a16="http://schemas.microsoft.com/office/drawing/2014/main" id="{DDA84941-1143-4E4B-917A-162FB52F9E87}"/>
              </a:ext>
            </a:extLst>
          </p:cNvPr>
          <p:cNvSpPr>
            <a:spLocks xmlns:a="http://schemas.openxmlformats.org/drawingml/2006/main" noGrp="1"/>
          </p:cNvSpPr>
          <p:nvPr/>
        </p:nvSpPr>
        <p:spPr>
          <a:xfrm xmlns:a="http://schemas.openxmlformats.org/drawingml/2006/main">
            <a:off x="1219200" y="5048250"/>
            <a:ext cx="1466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DCBD8"/>
                </a:solidFill>
                <a:latin typeface="Arial"/>
                <a:ea typeface="Arial"/>
                <a:cs typeface="Arial"/>
              </a:defRPr>
            </a:pPr>
            <a:r>
              <a:rPr sz="2325" b="0">
                <a:solidFill>
                  <a:srgbClr val="BDCBD8"/>
                </a:solidFill>
                <a:latin typeface="Arial"/>
                <a:ea typeface="Arial"/>
                <a:cs typeface="Arial"/>
              </a:rPr>
              <a:t>Seven screen concepts for passive SQL Server monitoring and diagnosis</a:t>
            </a:r>
          </a:p>
        </p:txBody>
      </p:sp>
      <p:sp>
        <p:nvSpPr>
          <p:cNvPr id="5" name="">
            <a:extLst xmlns:a="http://schemas.openxmlformats.org/drawingml/2006/main">
              <a:ext uri="{FF2B5EF4-FFF2-40B4-BE49-F238E27FC236}">
                <a16:creationId xmlns:a16="http://schemas.microsoft.com/office/drawing/2014/main" id="{8031043A-265B-4E6A-A6DD-24707A058BC5}"/>
              </a:ext>
            </a:extLst>
          </p:cNvPr>
          <p:cNvSpPr>
            <a:spLocks xmlns:a="http://schemas.openxmlformats.org/drawingml/2006/main" noGrp="1"/>
          </p:cNvSpPr>
          <p:nvPr/>
        </p:nvSpPr>
        <p:spPr>
          <a:xfrm xmlns:a="http://schemas.openxmlformats.org/drawingml/2006/main">
            <a:off x="1219200" y="7096125"/>
            <a:ext cx="1543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DCBD8"/>
                </a:solidFill>
                <a:latin typeface="Arial"/>
                <a:ea typeface="Arial"/>
                <a:cs typeface="Arial"/>
              </a:defRPr>
            </a:pPr>
            <a:r>
              <a:rPr sz="2025" b="0">
                <a:solidFill>
                  <a:srgbClr val="BDCBD8"/>
                </a:solidFill>
                <a:latin typeface="Arial"/>
                <a:ea typeface="Arial"/>
                <a:cs typeface="Arial"/>
              </a:rPr>
              <a:t>Fleet overview   /   Server summary   /   Live activity   /   Query performance</a:t>
            </a:r>
          </a:p>
        </p:txBody>
      </p:sp>
      <p:sp>
        <p:nvSpPr>
          <p:cNvPr id="6" name="">
            <a:extLst xmlns:a="http://schemas.openxmlformats.org/drawingml/2006/main">
              <a:ext uri="{FF2B5EF4-FFF2-40B4-BE49-F238E27FC236}">
                <a16:creationId xmlns:a16="http://schemas.microsoft.com/office/drawing/2014/main" id="{2BAB3731-D869-4E7C-A3C4-A66F96BEF807}"/>
              </a:ext>
            </a:extLst>
          </p:cNvPr>
          <p:cNvSpPr>
            <a:spLocks xmlns:a="http://schemas.openxmlformats.org/drawingml/2006/main" noGrp="1"/>
          </p:cNvSpPr>
          <p:nvPr/>
        </p:nvSpPr>
        <p:spPr>
          <a:xfrm xmlns:a="http://schemas.openxmlformats.org/drawingml/2006/main">
            <a:off x="1219200" y="7667625"/>
            <a:ext cx="1543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DCBD8"/>
                </a:solidFill>
                <a:latin typeface="Arial"/>
                <a:ea typeface="Arial"/>
                <a:cs typeface="Arial"/>
              </a:defRPr>
            </a:pPr>
            <a:r>
              <a:rPr sz="2025" b="0">
                <a:solidFill>
                  <a:srgbClr val="BDCBD8"/>
                </a:solidFill>
                <a:latin typeface="Arial"/>
                <a:ea typeface="Arial"/>
                <a:cs typeface="Arial"/>
              </a:rPr>
              <a:t>Deadlock investigation   /   Operational health   /   Alert triage</a:t>
            </a:r>
          </a:p>
        </p:txBody>
      </p:sp>
      <p:sp>
        <p:nvSpPr>
          <p:cNvPr id="7" name="">
            <a:extLst xmlns:a="http://schemas.openxmlformats.org/drawingml/2006/main">
              <a:ext uri="{FF2B5EF4-FFF2-40B4-BE49-F238E27FC236}">
                <a16:creationId xmlns:a16="http://schemas.microsoft.com/office/drawing/2014/main" id="{85F9EDEC-62D1-4C9D-A922-9029603DD101}"/>
              </a:ext>
            </a:extLst>
          </p:cNvPr>
          <p:cNvSpPr>
            <a:spLocks xmlns:a="http://schemas.openxmlformats.org/drawingml/2006/main" noGrp="1"/>
          </p:cNvSpPr>
          <p:nvPr/>
        </p:nvSpPr>
        <p:spPr>
          <a:xfrm xmlns:a="http://schemas.openxmlformats.org/drawingml/2006/main">
            <a:off x="1219200" y="9239250"/>
            <a:ext cx="1562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95A9BC"/>
                </a:solidFill>
                <a:latin typeface="Arial"/>
                <a:ea typeface="Arial"/>
                <a:cs typeface="Arial"/>
              </a:defRPr>
            </a:pPr>
            <a:r>
              <a:rPr sz="1875" b="0">
                <a:solidFill>
                  <a:srgbClr val="95A9BC"/>
                </a:solidFill>
                <a:latin typeface="Arial"/>
                <a:ea typeface="Arial"/>
                <a:cs typeface="Arial"/>
              </a:rPr>
              <a:t>September 2026     UI proposals with illustrative data</a:t>
            </a:r>
          </a:p>
        </p:txBody>
      </p:sp>
    </p:spTree>
    <p:extLst>
      <p:ext uri="{BB962C8B-B14F-4D97-AF65-F5344CB8AC3E}">
        <p14:creationId xmlns:p14="http://schemas.microsoft.com/office/powerpoint/2010/main" val="1716264451"/>
      </p:ext>
    </p:extLst>
  </p:cSld>
</p:sld>
</file>

<file path=ppt/slides/slide2.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9EA2C24-051A-4B4C-9DE2-0E76996B5D34}"/>
              </a:ext>
            </a:extLst>
          </p:cNvPr>
          <p:cNvSpPr>
            <a:spLocks xmlns:a="http://schemas.openxmlformats.org/drawingml/2006/main" noGrp="1"/>
          </p:cNvSpPr>
          <p:nvPr/>
        </p:nvSpPr>
        <p:spPr>
          <a:xfrm xmlns:a="http://schemas.openxmlformats.org/drawingml/2006/main">
            <a:off x="1143000" y="142875"/>
            <a:ext cx="15240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D"/>
                </a:solidFill>
                <a:latin typeface="Arial"/>
                <a:ea typeface="Arial"/>
                <a:cs typeface="Arial"/>
              </a:defRPr>
            </a:pPr>
            <a:r>
              <a:rPr sz="3000" b="1">
                <a:solidFill>
                  <a:srgbClr val="14273D"/>
                </a:solidFill>
                <a:latin typeface="Arial"/>
                <a:ea typeface="Arial"/>
                <a:cs typeface="Arial"/>
              </a:rPr>
              <a:t>01  /  Fleet overview</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9fbbdb8aaf02402f"/>
          <a:stretch xmlns:a="http://schemas.openxmlformats.org/drawingml/2006/main"/>
        </p:blipFill>
        <p:spPr>
          <a:xfrm xmlns:a="http://schemas.openxmlformats.org/drawingml/2006/main">
            <a:off x="1143000" y="840570"/>
            <a:ext cx="16002000" cy="900591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388FA8D-D6B3-42FD-A4EE-2D8C72A19F42}"/>
              </a:ext>
            </a:extLst>
          </p:cNvPr>
          <p:cNvSpPr>
            <a:spLocks xmlns:a="http://schemas.openxmlformats.org/drawingml/2006/main" noGrp="1"/>
          </p:cNvSpPr>
          <p:nvPr/>
        </p:nvSpPr>
        <p:spPr>
          <a:xfrm xmlns:a="http://schemas.openxmlformats.org/drawingml/2006/main">
            <a:off x="1143000" y="9915525"/>
            <a:ext cx="1600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4758B"/>
                </a:solidFill>
                <a:latin typeface="Arial"/>
                <a:ea typeface="Arial"/>
                <a:cs typeface="Arial"/>
              </a:defRPr>
            </a:pPr>
            <a:r>
              <a:rPr sz="1725" b="0">
                <a:solidFill>
                  <a:srgbClr val="64758B"/>
                </a:solidFill>
                <a:latin typeface="Arial"/>
                <a:ea typeface="Arial"/>
                <a:cs typeface="Arial"/>
              </a:rPr>
              <a:t>Exceptions lead the page. Collection gaps remain visible beside the evidence.</a:t>
            </a:r>
          </a:p>
        </p:txBody>
      </p:sp>
    </p:spTree>
    <p:extLst>
      <p:ext uri="{BB962C8B-B14F-4D97-AF65-F5344CB8AC3E}">
        <p14:creationId xmlns:p14="http://schemas.microsoft.com/office/powerpoint/2010/main" val="1589587673"/>
      </p:ext>
    </p:extLst>
  </p:cSld>
</p:sld>
</file>

<file path=ppt/slides/slide3.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9D465D8-E4E9-4544-86A3-E074B21CCE13}"/>
              </a:ext>
            </a:extLst>
          </p:cNvPr>
          <p:cNvSpPr>
            <a:spLocks xmlns:a="http://schemas.openxmlformats.org/drawingml/2006/main" noGrp="1"/>
          </p:cNvSpPr>
          <p:nvPr/>
        </p:nvSpPr>
        <p:spPr>
          <a:xfrm xmlns:a="http://schemas.openxmlformats.org/drawingml/2006/main">
            <a:off x="1143000" y="142875"/>
            <a:ext cx="15240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D"/>
                </a:solidFill>
                <a:latin typeface="Arial"/>
                <a:ea typeface="Arial"/>
                <a:cs typeface="Arial"/>
              </a:defRPr>
            </a:pPr>
            <a:r>
              <a:rPr sz="3000" b="1">
                <a:solidFill>
                  <a:srgbClr val="14273D"/>
                </a:solidFill>
                <a:latin typeface="Arial"/>
                <a:ea typeface="Arial"/>
                <a:cs typeface="Arial"/>
              </a:rPr>
              <a:t>02  /  Server summary</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8245ed4bc9f14bb8"/>
          <a:stretch xmlns:a="http://schemas.openxmlformats.org/drawingml/2006/main"/>
        </p:blipFill>
        <p:spPr>
          <a:xfrm xmlns:a="http://schemas.openxmlformats.org/drawingml/2006/main">
            <a:off x="1143000" y="840570"/>
            <a:ext cx="16002000" cy="900591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EC005A7-4828-4C36-898C-14ED9A0694E5}"/>
              </a:ext>
            </a:extLst>
          </p:cNvPr>
          <p:cNvSpPr>
            <a:spLocks xmlns:a="http://schemas.openxmlformats.org/drawingml/2006/main" noGrp="1"/>
          </p:cNvSpPr>
          <p:nvPr/>
        </p:nvSpPr>
        <p:spPr>
          <a:xfrm xmlns:a="http://schemas.openxmlformats.org/drawingml/2006/main">
            <a:off x="1143000" y="9915525"/>
            <a:ext cx="1600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4758B"/>
                </a:solidFill>
                <a:latin typeface="Arial"/>
                <a:ea typeface="Arial"/>
                <a:cs typeface="Arial"/>
              </a:defRPr>
            </a:pPr>
            <a:r>
              <a:rPr sz="1725" b="0">
                <a:solidFill>
                  <a:srgbClr val="64758B"/>
                </a:solidFill>
                <a:latin typeface="Arial"/>
                <a:ea typeface="Arial"/>
                <a:cs typeface="Arial"/>
              </a:rPr>
              <a:t>Server context, workload and database health stay together throughout the investigation.</a:t>
            </a:r>
          </a:p>
        </p:txBody>
      </p:sp>
    </p:spTree>
    <p:extLst>
      <p:ext uri="{BB962C8B-B14F-4D97-AF65-F5344CB8AC3E}">
        <p14:creationId xmlns:p14="http://schemas.microsoft.com/office/powerpoint/2010/main" val="2098441098"/>
      </p:ext>
    </p:extLst>
  </p:cSld>
</p:sld>
</file>

<file path=ppt/slides/slide4.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4425FA0-5CA8-4CA4-803E-776A4D33E977}"/>
              </a:ext>
            </a:extLst>
          </p:cNvPr>
          <p:cNvSpPr>
            <a:spLocks xmlns:a="http://schemas.openxmlformats.org/drawingml/2006/main" noGrp="1"/>
          </p:cNvSpPr>
          <p:nvPr/>
        </p:nvSpPr>
        <p:spPr>
          <a:xfrm xmlns:a="http://schemas.openxmlformats.org/drawingml/2006/main">
            <a:off x="1143000" y="142875"/>
            <a:ext cx="15240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D"/>
                </a:solidFill>
                <a:latin typeface="Arial"/>
                <a:ea typeface="Arial"/>
                <a:cs typeface="Arial"/>
              </a:defRPr>
            </a:pPr>
            <a:r>
              <a:rPr sz="3000" b="1">
                <a:solidFill>
                  <a:srgbClr val="14273D"/>
                </a:solidFill>
                <a:latin typeface="Arial"/>
                <a:ea typeface="Arial"/>
                <a:cs typeface="Arial"/>
              </a:rPr>
              <a:t>03  /  Live activity</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1062cbf06ec34bce"/>
          <a:stretch xmlns:a="http://schemas.openxmlformats.org/drawingml/2006/main"/>
        </p:blipFill>
        <p:spPr>
          <a:xfrm xmlns:a="http://schemas.openxmlformats.org/drawingml/2006/main">
            <a:off x="1143000" y="840570"/>
            <a:ext cx="16002000" cy="900591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F098737-C5D9-4BB9-9B1C-26CE49259804}"/>
              </a:ext>
            </a:extLst>
          </p:cNvPr>
          <p:cNvSpPr>
            <a:spLocks xmlns:a="http://schemas.openxmlformats.org/drawingml/2006/main" noGrp="1"/>
          </p:cNvSpPr>
          <p:nvPr/>
        </p:nvSpPr>
        <p:spPr>
          <a:xfrm xmlns:a="http://schemas.openxmlformats.org/drawingml/2006/main">
            <a:off x="1143000" y="9915525"/>
            <a:ext cx="1600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4758B"/>
                </a:solidFill>
                <a:latin typeface="Arial"/>
                <a:ea typeface="Arial"/>
                <a:cs typeface="Arial"/>
              </a:defRPr>
            </a:pPr>
            <a:r>
              <a:rPr sz="1725" b="0">
                <a:solidFill>
                  <a:srgbClr val="64758B"/>
                </a:solidFill>
                <a:latin typeface="Arial"/>
                <a:ea typeface="Arial"/>
                <a:cs typeface="Arial"/>
              </a:rPr>
              <a:t>A focused blocking chain and a preserved snapshot keep fast-changing sessions understandable.</a:t>
            </a:r>
          </a:p>
        </p:txBody>
      </p:sp>
    </p:spTree>
    <p:extLst>
      <p:ext uri="{BB962C8B-B14F-4D97-AF65-F5344CB8AC3E}">
        <p14:creationId xmlns:p14="http://schemas.microsoft.com/office/powerpoint/2010/main" val="1253899217"/>
      </p:ext>
    </p:extLst>
  </p:cSld>
</p:sld>
</file>

<file path=ppt/slides/slide5.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EC86597-9DA7-4A1D-A64B-1DF40DFD6FC6}"/>
              </a:ext>
            </a:extLst>
          </p:cNvPr>
          <p:cNvSpPr>
            <a:spLocks xmlns:a="http://schemas.openxmlformats.org/drawingml/2006/main" noGrp="1"/>
          </p:cNvSpPr>
          <p:nvPr/>
        </p:nvSpPr>
        <p:spPr>
          <a:xfrm xmlns:a="http://schemas.openxmlformats.org/drawingml/2006/main">
            <a:off x="1143000" y="142875"/>
            <a:ext cx="15240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D"/>
                </a:solidFill>
                <a:latin typeface="Arial"/>
                <a:ea typeface="Arial"/>
                <a:cs typeface="Arial"/>
              </a:defRPr>
            </a:pPr>
            <a:r>
              <a:rPr sz="3000" b="1">
                <a:solidFill>
                  <a:srgbClr val="14273D"/>
                </a:solidFill>
                <a:latin typeface="Arial"/>
                <a:ea typeface="Arial"/>
                <a:cs typeface="Arial"/>
              </a:rPr>
              <a:t>04  /  Query performance</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78fced1473f546b1"/>
          <a:stretch xmlns:a="http://schemas.openxmlformats.org/drawingml/2006/main"/>
        </p:blipFill>
        <p:spPr>
          <a:xfrm xmlns:a="http://schemas.openxmlformats.org/drawingml/2006/main">
            <a:off x="1143000" y="840570"/>
            <a:ext cx="16002000" cy="900591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77A63D3-F244-4A76-8962-A71E81C5F4D9}"/>
              </a:ext>
            </a:extLst>
          </p:cNvPr>
          <p:cNvSpPr>
            <a:spLocks xmlns:a="http://schemas.openxmlformats.org/drawingml/2006/main" noGrp="1"/>
          </p:cNvSpPr>
          <p:nvPr/>
        </p:nvSpPr>
        <p:spPr>
          <a:xfrm xmlns:a="http://schemas.openxmlformats.org/drawingml/2006/main">
            <a:off x="1143000" y="9915525"/>
            <a:ext cx="1600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4758B"/>
                </a:solidFill>
                <a:latin typeface="Arial"/>
                <a:ea typeface="Arial"/>
                <a:cs typeface="Arial"/>
              </a:defRPr>
            </a:pPr>
            <a:r>
              <a:rPr sz="1725" b="0">
                <a:solidFill>
                  <a:srgbClr val="64758B"/>
                </a:solidFill>
                <a:latin typeface="Arial"/>
                <a:ea typeface="Arial"/>
                <a:cs typeface="Arial"/>
              </a:rPr>
              <a:t>Ranked queries open beside their history, with the source and content limits kept explicit.</a:t>
            </a:r>
          </a:p>
        </p:txBody>
      </p:sp>
    </p:spTree>
    <p:extLst>
      <p:ext uri="{BB962C8B-B14F-4D97-AF65-F5344CB8AC3E}">
        <p14:creationId xmlns:p14="http://schemas.microsoft.com/office/powerpoint/2010/main" val="1629985708"/>
      </p:ext>
    </p:extLst>
  </p:cSld>
</p:sld>
</file>

<file path=ppt/slides/slide6.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5C60516-173B-4451-A68D-DDF53EBF7C8F}"/>
              </a:ext>
            </a:extLst>
          </p:cNvPr>
          <p:cNvSpPr>
            <a:spLocks xmlns:a="http://schemas.openxmlformats.org/drawingml/2006/main" noGrp="1"/>
          </p:cNvSpPr>
          <p:nvPr/>
        </p:nvSpPr>
        <p:spPr>
          <a:xfrm xmlns:a="http://schemas.openxmlformats.org/drawingml/2006/main">
            <a:off x="1143000" y="142875"/>
            <a:ext cx="15240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D"/>
                </a:solidFill>
                <a:latin typeface="Arial"/>
                <a:ea typeface="Arial"/>
                <a:cs typeface="Arial"/>
              </a:defRPr>
            </a:pPr>
            <a:r>
              <a:rPr sz="3000" b="1">
                <a:solidFill>
                  <a:srgbClr val="14273D"/>
                </a:solidFill>
                <a:latin typeface="Arial"/>
                <a:ea typeface="Arial"/>
                <a:cs typeface="Arial"/>
              </a:rPr>
              <a:t>05  /  Deadlock investigation</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a1ea1f82d7e5439b"/>
          <a:stretch xmlns:a="http://schemas.openxmlformats.org/drawingml/2006/main"/>
        </p:blipFill>
        <p:spPr>
          <a:xfrm xmlns:a="http://schemas.openxmlformats.org/drawingml/2006/main">
            <a:off x="1143000" y="840570"/>
            <a:ext cx="16002000" cy="900591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E04A416-1061-4559-A4F7-7B2C972A745A}"/>
              </a:ext>
            </a:extLst>
          </p:cNvPr>
          <p:cNvSpPr>
            <a:spLocks xmlns:a="http://schemas.openxmlformats.org/drawingml/2006/main" noGrp="1"/>
          </p:cNvSpPr>
          <p:nvPr/>
        </p:nvSpPr>
        <p:spPr>
          <a:xfrm xmlns:a="http://schemas.openxmlformats.org/drawingml/2006/main">
            <a:off x="1143000" y="9915525"/>
            <a:ext cx="1600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4758B"/>
                </a:solidFill>
                <a:latin typeface="Arial"/>
                <a:ea typeface="Arial"/>
                <a:cs typeface="Arial"/>
              </a:defRPr>
            </a:pPr>
            <a:r>
              <a:rPr sz="1725" b="0">
                <a:solidFill>
                  <a:srgbClr val="64758B"/>
                </a:solidFill>
                <a:latin typeface="Arial"/>
                <a:ea typeface="Arial"/>
                <a:cs typeface="Arial"/>
              </a:rPr>
              <a:t>The victim and lock cycle are visible immediately, with the underlying relationships below.</a:t>
            </a:r>
          </a:p>
        </p:txBody>
      </p:sp>
    </p:spTree>
    <p:extLst>
      <p:ext uri="{BB962C8B-B14F-4D97-AF65-F5344CB8AC3E}">
        <p14:creationId xmlns:p14="http://schemas.microsoft.com/office/powerpoint/2010/main" val="569094932"/>
      </p:ext>
    </p:extLst>
  </p:cSld>
</p:sld>
</file>

<file path=ppt/slides/slide7.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6E27F51-0FF0-4AED-BD6C-71C3AB4A8B0F}"/>
              </a:ext>
            </a:extLst>
          </p:cNvPr>
          <p:cNvSpPr>
            <a:spLocks xmlns:a="http://schemas.openxmlformats.org/drawingml/2006/main" noGrp="1"/>
          </p:cNvSpPr>
          <p:nvPr/>
        </p:nvSpPr>
        <p:spPr>
          <a:xfrm xmlns:a="http://schemas.openxmlformats.org/drawingml/2006/main">
            <a:off x="1143000" y="142875"/>
            <a:ext cx="15240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D"/>
                </a:solidFill>
                <a:latin typeface="Arial"/>
                <a:ea typeface="Arial"/>
                <a:cs typeface="Arial"/>
              </a:defRPr>
            </a:pPr>
            <a:r>
              <a:rPr sz="3000" b="1">
                <a:solidFill>
                  <a:srgbClr val="14273D"/>
                </a:solidFill>
                <a:latin typeface="Arial"/>
                <a:ea typeface="Arial"/>
                <a:cs typeface="Arial"/>
              </a:rPr>
              <a:t>06  /  Operational health</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33bfb75169de43c1"/>
          <a:stretch xmlns:a="http://schemas.openxmlformats.org/drawingml/2006/main"/>
        </p:blipFill>
        <p:spPr>
          <a:xfrm xmlns:a="http://schemas.openxmlformats.org/drawingml/2006/main">
            <a:off x="1143000" y="840570"/>
            <a:ext cx="16002000" cy="900591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F3B949D-C590-43FD-9064-0DB4ED78C2BD}"/>
              </a:ext>
            </a:extLst>
          </p:cNvPr>
          <p:cNvSpPr>
            <a:spLocks xmlns:a="http://schemas.openxmlformats.org/drawingml/2006/main" noGrp="1"/>
          </p:cNvSpPr>
          <p:nvPr/>
        </p:nvSpPr>
        <p:spPr>
          <a:xfrm xmlns:a="http://schemas.openxmlformats.org/drawingml/2006/main">
            <a:off x="1143000" y="9915525"/>
            <a:ext cx="1600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4758B"/>
                </a:solidFill>
                <a:latin typeface="Arial"/>
                <a:ea typeface="Arial"/>
                <a:cs typeface="Arial"/>
              </a:defRPr>
            </a:pPr>
            <a:r>
              <a:rPr sz="1725" b="0">
                <a:solidFill>
                  <a:srgbClr val="64758B"/>
                </a:solidFill>
                <a:latin typeface="Arial"/>
                <a:ea typeface="Arial"/>
                <a:cs typeface="Arial"/>
              </a:rPr>
              <a:t>Daily checks share one workspace, with overdue work and unavailable monitoring clearly labeled.</a:t>
            </a:r>
          </a:p>
        </p:txBody>
      </p:sp>
    </p:spTree>
    <p:extLst>
      <p:ext uri="{BB962C8B-B14F-4D97-AF65-F5344CB8AC3E}">
        <p14:creationId xmlns:p14="http://schemas.microsoft.com/office/powerpoint/2010/main" val="746372569"/>
      </p:ext>
    </p:extLst>
  </p:cSld>
</p:sld>
</file>

<file path=ppt/slides/slide8.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623528B-BCEE-4CF1-A953-DA0479094D5D}"/>
              </a:ext>
            </a:extLst>
          </p:cNvPr>
          <p:cNvSpPr>
            <a:spLocks xmlns:a="http://schemas.openxmlformats.org/drawingml/2006/main" noGrp="1"/>
          </p:cNvSpPr>
          <p:nvPr/>
        </p:nvSpPr>
        <p:spPr>
          <a:xfrm xmlns:a="http://schemas.openxmlformats.org/drawingml/2006/main">
            <a:off x="1143000" y="142875"/>
            <a:ext cx="15240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D"/>
                </a:solidFill>
                <a:latin typeface="Arial"/>
                <a:ea typeface="Arial"/>
                <a:cs typeface="Arial"/>
              </a:defRPr>
            </a:pPr>
            <a:r>
              <a:rPr sz="3000" b="1">
                <a:solidFill>
                  <a:srgbClr val="14273D"/>
                </a:solidFill>
                <a:latin typeface="Arial"/>
                <a:ea typeface="Arial"/>
                <a:cs typeface="Arial"/>
              </a:rPr>
              <a:t>07  /  Alert triage</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50293cd6fd934956"/>
          <a:stretch xmlns:a="http://schemas.openxmlformats.org/drawingml/2006/main"/>
        </p:blipFill>
        <p:spPr>
          <a:xfrm xmlns:a="http://schemas.openxmlformats.org/drawingml/2006/main">
            <a:off x="1143000" y="840570"/>
            <a:ext cx="16002000" cy="900591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44A3E3C-6BFC-4D21-BF81-7614636E23C0}"/>
              </a:ext>
            </a:extLst>
          </p:cNvPr>
          <p:cNvSpPr>
            <a:spLocks xmlns:a="http://schemas.openxmlformats.org/drawingml/2006/main" noGrp="1"/>
          </p:cNvSpPr>
          <p:nvPr/>
        </p:nvSpPr>
        <p:spPr>
          <a:xfrm xmlns:a="http://schemas.openxmlformats.org/drawingml/2006/main">
            <a:off x="1143000" y="9915525"/>
            <a:ext cx="1600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4758B"/>
                </a:solidFill>
                <a:latin typeface="Arial"/>
                <a:ea typeface="Arial"/>
                <a:cs typeface="Arial"/>
              </a:defRPr>
            </a:pPr>
            <a:r>
              <a:rPr sz="1725" b="0">
                <a:solidFill>
                  <a:srgbClr val="64758B"/>
                </a:solidFill>
                <a:latin typeface="Arial"/>
                <a:ea typeface="Arial"/>
                <a:cs typeface="Arial"/>
              </a:rPr>
              <a:t>Alert state, review history and links to supporting evidence appear in one place.</a:t>
            </a:r>
          </a:p>
        </p:txBody>
      </p:sp>
    </p:spTree>
    <p:extLst>
      <p:ext uri="{BB962C8B-B14F-4D97-AF65-F5344CB8AC3E}">
        <p14:creationId xmlns:p14="http://schemas.microsoft.com/office/powerpoint/2010/main" val="7646206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2D021C5-D60C-495B-947E-9541D0672DE5}"/>
              </a:ext>
            </a:extLst>
          </p:cNvPr>
          <p:cNvSpPr>
            <a:spLocks xmlns:a="http://schemas.openxmlformats.org/drawingml/2006/main" noGrp="1"/>
          </p:cNvSpPr>
          <p:nvPr/>
        </p:nvSpPr>
        <p:spPr>
          <a:xfrm xmlns:a="http://schemas.openxmlformats.org/drawingml/2006/main">
            <a:off x="1143000" y="762000"/>
            <a:ext cx="1600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4273D"/>
                </a:solidFill>
                <a:latin typeface="Arial"/>
                <a:ea typeface="Arial"/>
                <a:cs typeface="Arial"/>
              </a:defRPr>
            </a:pPr>
            <a:r>
              <a:rPr sz="5100" b="1">
                <a:solidFill>
                  <a:srgbClr val="14273D"/>
                </a:solidFill>
                <a:latin typeface="Arial"/>
                <a:ea typeface="Arial"/>
                <a:cs typeface="Arial"/>
              </a:rPr>
              <a:t>Design priorities</a:t>
            </a:r>
          </a:p>
        </p:txBody>
      </p:sp>
      <p:sp>
        <p:nvSpPr>
          <p:cNvPr id="2" name="">
            <a:extLst xmlns:a="http://schemas.openxmlformats.org/drawingml/2006/main">
              <a:ext uri="{FF2B5EF4-FFF2-40B4-BE49-F238E27FC236}">
                <a16:creationId xmlns:a16="http://schemas.microsoft.com/office/drawing/2014/main" id="{E1FFAA2D-E485-4E8F-A4EC-454F78114035}"/>
              </a:ext>
            </a:extLst>
          </p:cNvPr>
          <p:cNvSpPr>
            <a:spLocks xmlns:a="http://schemas.openxmlformats.org/drawingml/2006/main" noGrp="1"/>
          </p:cNvSpPr>
          <p:nvPr/>
        </p:nvSpPr>
        <p:spPr>
          <a:xfrm xmlns:a="http://schemas.openxmlformats.org/drawingml/2006/main">
            <a:off x="1143000" y="2286000"/>
            <a:ext cx="590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08C92"/>
                </a:solidFill>
                <a:latin typeface="Arial"/>
                <a:ea typeface="Arial"/>
                <a:cs typeface="Arial"/>
              </a:defRPr>
            </a:pPr>
            <a:r>
              <a:rPr sz="2775" b="1">
                <a:solidFill>
                  <a:srgbClr val="008C92"/>
                </a:solidFill>
                <a:latin typeface="Arial"/>
                <a:ea typeface="Arial"/>
                <a:cs typeface="Arial"/>
              </a:rPr>
              <a:t>Problems before detail</a:t>
            </a:r>
          </a:p>
        </p:txBody>
      </p:sp>
      <p:sp>
        <p:nvSpPr>
          <p:cNvPr id="3" name="">
            <a:extLst xmlns:a="http://schemas.openxmlformats.org/drawingml/2006/main">
              <a:ext uri="{FF2B5EF4-FFF2-40B4-BE49-F238E27FC236}">
                <a16:creationId xmlns:a16="http://schemas.microsoft.com/office/drawing/2014/main" id="{6B76598A-9773-4856-B4E5-4E7C728D6DB8}"/>
              </a:ext>
            </a:extLst>
          </p:cNvPr>
          <p:cNvSpPr>
            <a:spLocks xmlns:a="http://schemas.openxmlformats.org/drawingml/2006/main" noGrp="1"/>
          </p:cNvSpPr>
          <p:nvPr/>
        </p:nvSpPr>
        <p:spPr>
          <a:xfrm xmlns:a="http://schemas.openxmlformats.org/drawingml/2006/main">
            <a:off x="7524750" y="2247900"/>
            <a:ext cx="9525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D"/>
                </a:solidFill>
                <a:latin typeface="Arial"/>
                <a:ea typeface="Arial"/>
                <a:cs typeface="Arial"/>
              </a:defRPr>
            </a:pPr>
            <a:r>
              <a:rPr sz="2325" b="0">
                <a:solidFill>
                  <a:srgbClr val="14273D"/>
                </a:solidFill>
                <a:latin typeface="Arial"/>
                <a:ea typeface="Arial"/>
                <a:cs typeface="Arial"/>
              </a:rPr>
              <a:t>Rank exceptions on the overview and link each one to the next useful diagnostic view.</a:t>
            </a:r>
          </a:p>
        </p:txBody>
      </p:sp>
      <p:sp>
        <p:nvSpPr>
          <p:cNvPr id="4" name="">
            <a:extLst xmlns:a="http://schemas.openxmlformats.org/drawingml/2006/main">
              <a:ext uri="{FF2B5EF4-FFF2-40B4-BE49-F238E27FC236}">
                <a16:creationId xmlns:a16="http://schemas.microsoft.com/office/drawing/2014/main" id="{913097B3-C94F-4520-BEF7-79923ECC0BD5}"/>
              </a:ext>
            </a:extLst>
          </p:cNvPr>
          <p:cNvSpPr>
            <a:spLocks xmlns:a="http://schemas.openxmlformats.org/drawingml/2006/main" noGrp="1"/>
          </p:cNvSpPr>
          <p:nvPr/>
        </p:nvSpPr>
        <p:spPr>
          <a:xfrm xmlns:a="http://schemas.openxmlformats.org/drawingml/2006/main">
            <a:off x="1143000" y="3714750"/>
            <a:ext cx="590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08C92"/>
                </a:solidFill>
                <a:latin typeface="Arial"/>
                <a:ea typeface="Arial"/>
                <a:cs typeface="Arial"/>
              </a:defRPr>
            </a:pPr>
            <a:r>
              <a:rPr sz="2775" b="1">
                <a:solidFill>
                  <a:srgbClr val="008C92"/>
                </a:solidFill>
                <a:latin typeface="Arial"/>
                <a:ea typeface="Arial"/>
                <a:cs typeface="Arial"/>
              </a:rPr>
              <a:t>Context follows the user</a:t>
            </a:r>
          </a:p>
        </p:txBody>
      </p:sp>
      <p:sp>
        <p:nvSpPr>
          <p:cNvPr id="5" name="">
            <a:extLst xmlns:a="http://schemas.openxmlformats.org/drawingml/2006/main">
              <a:ext uri="{FF2B5EF4-FFF2-40B4-BE49-F238E27FC236}">
                <a16:creationId xmlns:a16="http://schemas.microsoft.com/office/drawing/2014/main" id="{3A5C0BA2-2CF3-4F27-A256-DBBE08C6F1BF}"/>
              </a:ext>
            </a:extLst>
          </p:cNvPr>
          <p:cNvSpPr>
            <a:spLocks xmlns:a="http://schemas.openxmlformats.org/drawingml/2006/main" noGrp="1"/>
          </p:cNvSpPr>
          <p:nvPr/>
        </p:nvSpPr>
        <p:spPr>
          <a:xfrm xmlns:a="http://schemas.openxmlformats.org/drawingml/2006/main">
            <a:off x="7524750" y="3676650"/>
            <a:ext cx="9525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D"/>
                </a:solidFill>
                <a:latin typeface="Arial"/>
                <a:ea typeface="Arial"/>
                <a:cs typeface="Arial"/>
              </a:defRPr>
            </a:pPr>
            <a:r>
              <a:rPr sz="2325" b="0">
                <a:solidFill>
                  <a:srgbClr val="14273D"/>
                </a:solidFill>
                <a:latin typeface="Arial"/>
                <a:ea typeface="Arial"/>
                <a:cs typeface="Arial"/>
              </a:rPr>
              <a:t>Keep the selected server, database and time window through navigation. Preserve inspected snapshots.</a:t>
            </a:r>
          </a:p>
        </p:txBody>
      </p:sp>
      <p:sp>
        <p:nvSpPr>
          <p:cNvPr id="6" name="">
            <a:extLst xmlns:a="http://schemas.openxmlformats.org/drawingml/2006/main">
              <a:ext uri="{FF2B5EF4-FFF2-40B4-BE49-F238E27FC236}">
                <a16:creationId xmlns:a16="http://schemas.microsoft.com/office/drawing/2014/main" id="{703F1370-6D44-4E4E-9D0E-469F9971FEC6}"/>
              </a:ext>
            </a:extLst>
          </p:cNvPr>
          <p:cNvSpPr>
            <a:spLocks xmlns:a="http://schemas.openxmlformats.org/drawingml/2006/main" noGrp="1"/>
          </p:cNvSpPr>
          <p:nvPr/>
        </p:nvSpPr>
        <p:spPr>
          <a:xfrm xmlns:a="http://schemas.openxmlformats.org/drawingml/2006/main">
            <a:off x="1143000" y="5143500"/>
            <a:ext cx="590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08C92"/>
                </a:solidFill>
                <a:latin typeface="Arial"/>
                <a:ea typeface="Arial"/>
                <a:cs typeface="Arial"/>
              </a:defRPr>
            </a:pPr>
            <a:r>
              <a:rPr sz="2775" b="1">
                <a:solidFill>
                  <a:srgbClr val="008C92"/>
                </a:solidFill>
                <a:latin typeface="Arial"/>
                <a:ea typeface="Arial"/>
                <a:cs typeface="Arial"/>
              </a:rPr>
              <a:t>Evidence stays honest</a:t>
            </a:r>
          </a:p>
        </p:txBody>
      </p:sp>
      <p:sp>
        <p:nvSpPr>
          <p:cNvPr id="7" name="">
            <a:extLst xmlns:a="http://schemas.openxmlformats.org/drawingml/2006/main">
              <a:ext uri="{FF2B5EF4-FFF2-40B4-BE49-F238E27FC236}">
                <a16:creationId xmlns:a16="http://schemas.microsoft.com/office/drawing/2014/main" id="{334A8D13-EB70-4ED0-AC10-2C219EE66FF1}"/>
              </a:ext>
            </a:extLst>
          </p:cNvPr>
          <p:cNvSpPr>
            <a:spLocks xmlns:a="http://schemas.openxmlformats.org/drawingml/2006/main" noGrp="1"/>
          </p:cNvSpPr>
          <p:nvPr/>
        </p:nvSpPr>
        <p:spPr>
          <a:xfrm xmlns:a="http://schemas.openxmlformats.org/drawingml/2006/main">
            <a:off x="7524750" y="5105400"/>
            <a:ext cx="9525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D"/>
                </a:solidFill>
                <a:latin typeface="Arial"/>
                <a:ea typeface="Arial"/>
                <a:cs typeface="Arial"/>
              </a:defRPr>
            </a:pPr>
            <a:r>
              <a:rPr sz="2325" b="0">
                <a:solidFill>
                  <a:srgbClr val="14273D"/>
                </a:solidFill>
                <a:latin typeface="Arial"/>
                <a:ea typeface="Arial"/>
                <a:cs typeface="Arial"/>
              </a:rPr>
              <a:t>Show current, stale, unavailable and incomplete states with text and observation times.</a:t>
            </a:r>
          </a:p>
        </p:txBody>
      </p:sp>
      <p:sp>
        <p:nvSpPr>
          <p:cNvPr id="8" name="">
            <a:extLst xmlns:a="http://schemas.openxmlformats.org/drawingml/2006/main">
              <a:ext uri="{FF2B5EF4-FFF2-40B4-BE49-F238E27FC236}">
                <a16:creationId xmlns:a16="http://schemas.microsoft.com/office/drawing/2014/main" id="{AB529A92-9E45-45DF-9AFD-B0F7B4F577E0}"/>
              </a:ext>
            </a:extLst>
          </p:cNvPr>
          <p:cNvSpPr>
            <a:spLocks xmlns:a="http://schemas.openxmlformats.org/drawingml/2006/main" noGrp="1"/>
          </p:cNvSpPr>
          <p:nvPr/>
        </p:nvSpPr>
        <p:spPr>
          <a:xfrm xmlns:a="http://schemas.openxmlformats.org/drawingml/2006/main">
            <a:off x="1143000" y="6572250"/>
            <a:ext cx="590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08C92"/>
                </a:solidFill>
                <a:latin typeface="Arial"/>
                <a:ea typeface="Arial"/>
                <a:cs typeface="Arial"/>
              </a:defRPr>
            </a:pPr>
            <a:r>
              <a:rPr sz="2775" b="1">
                <a:solidFill>
                  <a:srgbClr val="008C92"/>
                </a:solidFill>
                <a:latin typeface="Arial"/>
                <a:ea typeface="Arial"/>
                <a:cs typeface="Arial"/>
              </a:rPr>
              <a:t>Dense data stays readable</a:t>
            </a:r>
          </a:p>
        </p:txBody>
      </p:sp>
      <p:sp>
        <p:nvSpPr>
          <p:cNvPr id="9" name="">
            <a:extLst xmlns:a="http://schemas.openxmlformats.org/drawingml/2006/main">
              <a:ext uri="{FF2B5EF4-FFF2-40B4-BE49-F238E27FC236}">
                <a16:creationId xmlns:a16="http://schemas.microsoft.com/office/drawing/2014/main" id="{5F225E18-4629-4EDD-9B1D-F0B2554DB09F}"/>
              </a:ext>
            </a:extLst>
          </p:cNvPr>
          <p:cNvSpPr>
            <a:spLocks xmlns:a="http://schemas.openxmlformats.org/drawingml/2006/main" noGrp="1"/>
          </p:cNvSpPr>
          <p:nvPr/>
        </p:nvSpPr>
        <p:spPr>
          <a:xfrm xmlns:a="http://schemas.openxmlformats.org/drawingml/2006/main">
            <a:off x="7524750" y="6534150"/>
            <a:ext cx="9525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D"/>
                </a:solidFill>
                <a:latin typeface="Arial"/>
                <a:ea typeface="Arial"/>
                <a:cs typeface="Arial"/>
              </a:defRPr>
            </a:pPr>
            <a:r>
              <a:rPr sz="2325" b="0">
                <a:solidFill>
                  <a:srgbClr val="14273D"/>
                </a:solidFill>
                <a:latin typeface="Arial"/>
                <a:ea typeface="Arial"/>
                <a:cs typeface="Arial"/>
              </a:rPr>
              <a:t>Use aligned tables, concise defaults and a detail pane for the selected item.</a:t>
            </a:r>
          </a:p>
        </p:txBody>
      </p:sp>
      <p:sp>
        <p:nvSpPr>
          <p:cNvPr id="10" name="">
            <a:extLst xmlns:a="http://schemas.openxmlformats.org/drawingml/2006/main">
              <a:ext uri="{FF2B5EF4-FFF2-40B4-BE49-F238E27FC236}">
                <a16:creationId xmlns:a16="http://schemas.microsoft.com/office/drawing/2014/main" id="{4EF368B4-9383-4981-95F6-E9F368EB3E28}"/>
              </a:ext>
            </a:extLst>
          </p:cNvPr>
          <p:cNvSpPr>
            <a:spLocks xmlns:a="http://schemas.openxmlformats.org/drawingml/2006/main" noGrp="1"/>
          </p:cNvSpPr>
          <p:nvPr/>
        </p:nvSpPr>
        <p:spPr>
          <a:xfrm xmlns:a="http://schemas.openxmlformats.org/drawingml/2006/main">
            <a:off x="1143000" y="8334375"/>
            <a:ext cx="1600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73D"/>
                </a:solidFill>
                <a:latin typeface="Arial"/>
                <a:ea typeface="Arial"/>
                <a:cs typeface="Arial"/>
              </a:defRPr>
            </a:pPr>
            <a:r>
              <a:rPr sz="2250" b="1">
                <a:solidFill>
                  <a:srgbClr val="14273D"/>
                </a:solidFill>
                <a:latin typeface="Arial"/>
                <a:ea typeface="Arial"/>
                <a:cs typeface="Arial"/>
              </a:rPr>
              <a:t>Additional capabilities in the project</a:t>
            </a:r>
          </a:p>
        </p:txBody>
      </p:sp>
      <p:sp>
        <p:nvSpPr>
          <p:cNvPr id="11" name="">
            <a:extLst xmlns:a="http://schemas.openxmlformats.org/drawingml/2006/main">
              <a:ext uri="{FF2B5EF4-FFF2-40B4-BE49-F238E27FC236}">
                <a16:creationId xmlns:a16="http://schemas.microsoft.com/office/drawing/2014/main" id="{8A0A651D-CC0F-4E9B-A570-CDA20AE7FC1A}"/>
              </a:ext>
            </a:extLst>
          </p:cNvPr>
          <p:cNvSpPr>
            <a:spLocks xmlns:a="http://schemas.openxmlformats.org/drawingml/2006/main" noGrp="1"/>
          </p:cNvSpPr>
          <p:nvPr/>
        </p:nvSpPr>
        <p:spPr>
          <a:xfrm xmlns:a="http://schemas.openxmlformats.org/drawingml/2006/main">
            <a:off x="1143000" y="8943975"/>
            <a:ext cx="15811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64758B"/>
                </a:solidFill>
                <a:latin typeface="Arial"/>
                <a:ea typeface="Arial"/>
                <a:cs typeface="Arial"/>
              </a:defRPr>
            </a:pPr>
            <a:r>
              <a:rPr sz="2100" b="0">
                <a:solidFill>
                  <a:srgbClr val="64758B"/>
                </a:solidFill>
                <a:latin typeface="Arial"/>
                <a:ea typeface="Arial"/>
                <a:cs typeface="Arial"/>
              </a:rPr>
              <a:t>Analytics includes history, baselines, forecasts and incident evidence. Reports expose HTML and CSV exports. MCP provides read-only diagnostic access. Release certification remains in progress.</a:t>
            </a:r>
          </a:p>
        </p:txBody>
      </p:sp>
    </p:spTree>
    <p:extLst>
      <p:ext uri="{BB962C8B-B14F-4D97-AF65-F5344CB8AC3E}">
        <p14:creationId xmlns:p14="http://schemas.microsoft.com/office/powerpoint/2010/main" val="15839387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2026-09-09T14:40:13.6620000Z</dcterms:created>
  <dcterms:modified xsi:type="dcterms:W3CDTF">2026-09-09T14:40:13.6620000Z</dcterms:modified>
</coreProperties>
</file>